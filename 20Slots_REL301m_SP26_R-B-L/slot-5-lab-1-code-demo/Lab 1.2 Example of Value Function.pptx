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50" r:id="rId2"/>
  </p:sldMasterIdLst>
  <p:notesMasterIdLst>
    <p:notesMasterId r:id="rId10"/>
  </p:notesMasterIdLst>
  <p:sldIdLst>
    <p:sldId id="256" r:id="rId3"/>
    <p:sldId id="257" r:id="rId4"/>
    <p:sldId id="258" r:id="rId5"/>
    <p:sldId id="294" r:id="rId6"/>
    <p:sldId id="292" r:id="rId7"/>
    <p:sldId id="293" r:id="rId8"/>
    <p:sldId id="271" r:id="rId9"/>
  </p:sldIdLst>
  <p:sldSz cx="9144000" cy="6858000" type="screen4x3"/>
  <p:notesSz cx="7302500" cy="95885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sSwr0Rn44+Fg79SyXE1cdzAsQ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03B3B-293C-4987-B8E2-EB9B8D90D149}" v="2" dt="2024-04-23T15:20:28.1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40"/>
    <p:restoredTop sz="94663"/>
  </p:normalViewPr>
  <p:slideViewPr>
    <p:cSldViewPr snapToGrid="0">
      <p:cViewPr varScale="1">
        <p:scale>
          <a:sx n="117" d="100"/>
          <a:sy n="117" d="100"/>
        </p:scale>
        <p:origin x="77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28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 Doan Nguyen Thanh" userId="S::hoadnt@fe.edu.vn::7a98d324-aef2-407a-98ef-fab3d3332f71" providerId="AD" clId="Web-{04D03B3B-293C-4987-B8E2-EB9B8D90D149}"/>
    <pc:docChg chg="modSld">
      <pc:chgData name="Hoa Doan Nguyen Thanh" userId="S::hoadnt@fe.edu.vn::7a98d324-aef2-407a-98ef-fab3d3332f71" providerId="AD" clId="Web-{04D03B3B-293C-4987-B8E2-EB9B8D90D149}" dt="2024-04-23T15:20:24.952" v="0" actId="20577"/>
      <pc:docMkLst>
        <pc:docMk/>
      </pc:docMkLst>
      <pc:sldChg chg="modSp">
        <pc:chgData name="Hoa Doan Nguyen Thanh" userId="S::hoadnt@fe.edu.vn::7a98d324-aef2-407a-98ef-fab3d3332f71" providerId="AD" clId="Web-{04D03B3B-293C-4987-B8E2-EB9B8D90D149}" dt="2024-04-23T15:20:24.952" v="0" actId="20577"/>
        <pc:sldMkLst>
          <pc:docMk/>
          <pc:sldMk cId="2463090386" sldId="294"/>
        </pc:sldMkLst>
        <pc:spChg chg="mod">
          <ac:chgData name="Hoa Doan Nguyen Thanh" userId="S::hoadnt@fe.edu.vn::7a98d324-aef2-407a-98ef-fab3d3332f71" providerId="AD" clId="Web-{04D03B3B-293C-4987-B8E2-EB9B8D90D149}" dt="2024-04-23T15:20:24.952" v="0" actId="20577"/>
          <ac:spMkLst>
            <pc:docMk/>
            <pc:sldMk cId="2463090386" sldId="294"/>
            <ac:spMk id="20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2" y="0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2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3730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0652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752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9"/>
          <p:cNvSpPr>
            <a:spLocks noGrp="1"/>
          </p:cNvSpPr>
          <p:nvPr>
            <p:ph type="chart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9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6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1" name="Google Shape;11;p16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2" name="Google Shape;12;p16"/>
              <p:cNvSpPr txBox="1"/>
              <p:nvPr/>
            </p:nvSpPr>
            <p:spPr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3" name="Google Shape;13;p16"/>
              <p:cNvGrpSpPr/>
              <p:nvPr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cxnSp>
              <p:nvCxnSpPr>
                <p:cNvPr id="14" name="Google Shape;14;p16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16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16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16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16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16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16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1" name="Google Shape;21;p16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" name="Google Shape;22;p16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16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16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16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16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16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16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16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0" name="Google Shape;30;p16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1" name="Google Shape;31;p16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2" name="Google Shape;32;p16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16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16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16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16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16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16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16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16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1" name="Google Shape;41;p16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2" name="Google Shape;42;p16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16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16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16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16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16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16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16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0" name="Google Shape;50;p16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1" name="Google Shape;51;p16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2" name="Google Shape;52;p16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16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16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16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16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16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16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16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16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1" name="Google Shape;61;p16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2" name="Google Shape;62;p16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6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6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65" name="Google Shape;65;p16"/>
              <p:cNvCxnSpPr/>
              <p:nvPr/>
            </p:nvCxnSpPr>
            <p:spPr>
              <a:xfrm>
                <a:off x="5568" y="0"/>
                <a:ext cx="0" cy="14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66" name="Google Shape;66;p16"/>
            <p:cNvGrpSpPr/>
            <p:nvPr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cxnSp>
            <p:nvCxnSpPr>
              <p:cNvPr id="67" name="Google Shape;67;p16"/>
              <p:cNvCxnSpPr/>
              <p:nvPr/>
            </p:nvCxnSpPr>
            <p:spPr>
              <a:xfrm>
                <a:off x="506" y="559"/>
                <a:ext cx="0" cy="17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16"/>
              <p:cNvCxnSpPr/>
              <p:nvPr/>
            </p:nvCxnSpPr>
            <p:spPr>
              <a:xfrm rot="10800000">
                <a:off x="3" y="1924"/>
                <a:ext cx="32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16"/>
              <p:cNvCxnSpPr/>
              <p:nvPr/>
            </p:nvCxnSpPr>
            <p:spPr>
              <a:xfrm rot="10800000">
                <a:off x="384" y="938"/>
                <a:ext cx="38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70" name="Google Shape;70;p16"/>
              <p:cNvSpPr/>
              <p:nvPr/>
            </p:nvSpPr>
            <p:spPr>
              <a:xfrm rot="-5400000" flipH="1">
                <a:off x="425" y="860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71" name="Google Shape;71;p16"/>
            <p:cNvGrpSpPr/>
            <p:nvPr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cxnSp>
            <p:nvCxnSpPr>
              <p:cNvPr id="72" name="Google Shape;72;p16"/>
              <p:cNvCxnSpPr/>
              <p:nvPr/>
            </p:nvCxnSpPr>
            <p:spPr>
              <a:xfrm>
                <a:off x="1480" y="3442"/>
                <a:ext cx="38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16"/>
              <p:cNvCxnSpPr/>
              <p:nvPr/>
            </p:nvCxnSpPr>
            <p:spPr>
              <a:xfrm>
                <a:off x="5172" y="1952"/>
                <a:ext cx="0" cy="181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74" name="Google Shape;74;p16"/>
              <p:cNvSpPr/>
              <p:nvPr/>
            </p:nvSpPr>
            <p:spPr>
              <a:xfrm rot="5400000">
                <a:off x="5096" y="3347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6" name="Google Shape;76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8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88" name="Google Shape;88;p18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89" name="Google Shape;89;p18"/>
              <p:cNvGrpSpPr/>
              <p:nvPr/>
            </p:nvGrpSpPr>
            <p:grpSpPr>
              <a:xfrm>
                <a:off x="0" y="192"/>
                <a:ext cx="5760" cy="4032"/>
                <a:chOff x="0" y="192"/>
                <a:chExt cx="5760" cy="4032"/>
              </a:xfrm>
            </p:grpSpPr>
            <p:cxnSp>
              <p:nvCxnSpPr>
                <p:cNvPr id="90" name="Google Shape;90;p18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8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8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8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8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8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8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8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8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8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8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8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8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8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8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8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8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8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8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8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8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8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2" name="Google Shape;112;p18"/>
              <p:cNvGrpSpPr/>
              <p:nvPr/>
            </p:nvGrpSpPr>
            <p:grpSpPr>
              <a:xfrm>
                <a:off x="192" y="0"/>
                <a:ext cx="5376" cy="4320"/>
                <a:chOff x="192" y="0"/>
                <a:chExt cx="5376" cy="4320"/>
              </a:xfrm>
            </p:grpSpPr>
            <p:cxnSp>
              <p:nvCxnSpPr>
                <p:cNvPr id="113" name="Google Shape;113;p18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4" name="Google Shape;114;p18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5" name="Google Shape;115;p18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6" name="Google Shape;116;p18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7" name="Google Shape;117;p18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8" name="Google Shape;118;p18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9" name="Google Shape;119;p18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0" name="Google Shape;120;p18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1" name="Google Shape;121;p18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2" name="Google Shape;122;p18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3" name="Google Shape;123;p18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4" name="Google Shape;124;p18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5" name="Google Shape;125;p18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6" name="Google Shape;126;p18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7" name="Google Shape;127;p18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8" name="Google Shape;128;p18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9" name="Google Shape;129;p18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0" name="Google Shape;130;p18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1" name="Google Shape;131;p18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2" name="Google Shape;132;p18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3" name="Google Shape;133;p18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4" name="Google Shape;134;p18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5" name="Google Shape;135;p18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6" name="Google Shape;136;p18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8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8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8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8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8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42" name="Google Shape;142;p18" descr="60%"/>
            <p:cNvSpPr txBox="1"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43" name="Google Shape;143;p18"/>
            <p:cNvCxnSpPr/>
            <p:nvPr/>
          </p:nvCxnSpPr>
          <p:spPr>
            <a:xfrm>
              <a:off x="5568" y="0"/>
              <a:ext cx="0" cy="1488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44" name="Google Shape;144;p18"/>
            <p:cNvGrpSpPr/>
            <p:nvPr/>
          </p:nvGrpSpPr>
          <p:grpSpPr>
            <a:xfrm>
              <a:off x="261" y="892"/>
              <a:ext cx="1124" cy="1464"/>
              <a:chOff x="96" y="916"/>
              <a:chExt cx="2208" cy="2876"/>
            </a:xfrm>
          </p:grpSpPr>
          <p:cxnSp>
            <p:nvCxnSpPr>
              <p:cNvPr id="145" name="Google Shape;145;p18"/>
              <p:cNvCxnSpPr/>
              <p:nvPr/>
            </p:nvCxnSpPr>
            <p:spPr>
              <a:xfrm rot="10800000">
                <a:off x="96" y="1038"/>
                <a:ext cx="22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18"/>
              <p:cNvCxnSpPr/>
              <p:nvPr/>
            </p:nvCxnSpPr>
            <p:spPr>
              <a:xfrm>
                <a:off x="336" y="920"/>
                <a:ext cx="0" cy="287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47" name="Google Shape;147;p18"/>
              <p:cNvSpPr/>
              <p:nvPr/>
            </p:nvSpPr>
            <p:spPr>
              <a:xfrm flipH="1">
                <a:off x="218" y="916"/>
                <a:ext cx="238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48" name="Google Shape;148;p1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9" name="Google Shape;149;p1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"/>
          <p:cNvSpPr txBox="1">
            <a:spLocks noGrp="1"/>
          </p:cNvSpPr>
          <p:nvPr>
            <p:ph type="ctrTitle"/>
          </p:nvPr>
        </p:nvSpPr>
        <p:spPr>
          <a:xfrm>
            <a:off x="12192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dirty="0"/>
              <a:t>Lab 1.2 Example of Value Function</a:t>
            </a:r>
            <a:endParaRPr dirty="0"/>
          </a:p>
        </p:txBody>
      </p:sp>
      <p:pic>
        <p:nvPicPr>
          <p:cNvPr id="190" name="Google Shape;1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Objectives</a:t>
            </a:r>
            <a:endParaRPr/>
          </a:p>
        </p:txBody>
      </p:sp>
      <p:pic>
        <p:nvPicPr>
          <p:cNvPr id="198" name="Google Shape;1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7" name="Google Shape;341;p15">
            <a:extLst>
              <a:ext uri="{FF2B5EF4-FFF2-40B4-BE49-F238E27FC236}">
                <a16:creationId xmlns:a16="http://schemas.microsoft.com/office/drawing/2014/main" id="{80E9F35F-BEF3-8449-B91D-6BDA225D1FB5}"/>
              </a:ext>
            </a:extLst>
          </p:cNvPr>
          <p:cNvSpPr txBox="1"/>
          <p:nvPr/>
        </p:nvSpPr>
        <p:spPr>
          <a:xfrm>
            <a:off x="3069771" y="6248400"/>
            <a:ext cx="340722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Lab 1.2 Example of Value Function</a:t>
            </a:r>
            <a:endParaRPr lang="en-US" dirty="0"/>
          </a:p>
        </p:txBody>
      </p:sp>
      <p:sp>
        <p:nvSpPr>
          <p:cNvPr id="10" name="Google Shape;207;p3" descr="Rectangle: Click to edit Master text styles &#10;Second level &#10;Third level &#10;Fourth level &#10;Fifth level">
            <a:extLst>
              <a:ext uri="{FF2B5EF4-FFF2-40B4-BE49-F238E27FC236}">
                <a16:creationId xmlns:a16="http://schemas.microsoft.com/office/drawing/2014/main" id="{9DE7A434-9D33-874C-9C9A-100E8B38BA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708150"/>
            <a:ext cx="7696200" cy="431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</a:pPr>
            <a:r>
              <a:rPr lang="en-US" sz="22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lab is a basic example to illustrate how a value function can be implemented and initialized for a simple grid world environment. You are asked to implement the missing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Lab Guide Coding  </a:t>
            </a:r>
            <a:endParaRPr dirty="0"/>
          </a:p>
        </p:txBody>
      </p:sp>
      <p:sp>
        <p:nvSpPr>
          <p:cNvPr id="207" name="Google Shape;207;p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08150"/>
            <a:ext cx="7696200" cy="431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Using </a:t>
            </a:r>
            <a:r>
              <a:rPr lang="en-US" sz="2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given code</a:t>
            </a:r>
            <a:endParaRPr lang="en-US" sz="22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320"/>
              <a:buFont typeface="Noto Sans Symbols"/>
              <a:buChar char="❑"/>
            </a:pP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GridWorld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class represents the grid world environment. It defines the grid size, the number of actions (up, down, left, right), and the rewards associated with each cell.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320"/>
              <a:buFont typeface="Noto Sans Symbols"/>
              <a:buChar char="❑"/>
            </a:pP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lang="en-US" sz="18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ValueFunction</a:t>
            </a: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class represents the value function. It stores the value estimates for each state in the grid world.</a:t>
            </a:r>
          </a:p>
        </p:txBody>
      </p:sp>
      <p:pic>
        <p:nvPicPr>
          <p:cNvPr id="208" name="Google Shape;20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8" name="Google Shape;341;p15">
            <a:extLst>
              <a:ext uri="{FF2B5EF4-FFF2-40B4-BE49-F238E27FC236}">
                <a16:creationId xmlns:a16="http://schemas.microsoft.com/office/drawing/2014/main" id="{ECAA67A7-579F-2B4E-8931-11D2A12895F5}"/>
              </a:ext>
            </a:extLst>
          </p:cNvPr>
          <p:cNvSpPr txBox="1"/>
          <p:nvPr/>
        </p:nvSpPr>
        <p:spPr>
          <a:xfrm>
            <a:off x="3069771" y="6248400"/>
            <a:ext cx="340722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Lab 1.2 Example of Value Function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Lab Guide Coding  </a:t>
            </a:r>
            <a:endParaRPr dirty="0"/>
          </a:p>
        </p:txBody>
      </p:sp>
      <p:sp>
        <p:nvSpPr>
          <p:cNvPr id="207" name="Google Shape;207;p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08150"/>
            <a:ext cx="7696200" cy="431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Font typeface="Noto Sans Symbols"/>
              <a:buChar char="❑"/>
            </a:pPr>
            <a:r>
              <a:rPr lang="en-US" sz="2200" b="0" i="0" u="none" dirty="0">
                <a:latin typeface="Tahoma"/>
                <a:ea typeface="Tahoma"/>
                <a:cs typeface="Tahoma"/>
                <a:sym typeface="Tahoma"/>
              </a:rPr>
              <a:t>Using given code </a:t>
            </a:r>
            <a:endParaRPr lang="en-US" sz="2200" b="0" i="0" u="none" dirty="0">
              <a:latin typeface="Tahoma"/>
              <a:ea typeface="Tahoma"/>
              <a:cs typeface="Tahoma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320"/>
              <a:buFont typeface="Noto Sans Symbols"/>
              <a:buChar char="❑"/>
            </a:pP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initialize the value function with the rewards associated with each cell in the grid world.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SzPts val="1320"/>
              <a:buFont typeface="Noto Sans Symbols"/>
              <a:buChar char="❑"/>
            </a:pPr>
            <a:r>
              <a:rPr lang="en-US" sz="18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print the initial value function to see the value estimates for each state.</a:t>
            </a:r>
          </a:p>
        </p:txBody>
      </p:sp>
      <p:pic>
        <p:nvPicPr>
          <p:cNvPr id="208" name="Google Shape;20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8" name="Google Shape;341;p15">
            <a:extLst>
              <a:ext uri="{FF2B5EF4-FFF2-40B4-BE49-F238E27FC236}">
                <a16:creationId xmlns:a16="http://schemas.microsoft.com/office/drawing/2014/main" id="{ECAA67A7-579F-2B4E-8931-11D2A12895F5}"/>
              </a:ext>
            </a:extLst>
          </p:cNvPr>
          <p:cNvSpPr txBox="1"/>
          <p:nvPr/>
        </p:nvSpPr>
        <p:spPr>
          <a:xfrm>
            <a:off x="3069771" y="6248400"/>
            <a:ext cx="340722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Lab 1.2 Example of Value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090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Lab Guide Coding  </a:t>
            </a:r>
            <a:endParaRPr dirty="0"/>
          </a:p>
        </p:txBody>
      </p:sp>
      <p:pic>
        <p:nvPicPr>
          <p:cNvPr id="208" name="Google Shape;20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8" name="Google Shape;341;p15">
            <a:extLst>
              <a:ext uri="{FF2B5EF4-FFF2-40B4-BE49-F238E27FC236}">
                <a16:creationId xmlns:a16="http://schemas.microsoft.com/office/drawing/2014/main" id="{ECAA67A7-579F-2B4E-8931-11D2A12895F5}"/>
              </a:ext>
            </a:extLst>
          </p:cNvPr>
          <p:cNvSpPr txBox="1"/>
          <p:nvPr/>
        </p:nvSpPr>
        <p:spPr>
          <a:xfrm>
            <a:off x="3069771" y="6248400"/>
            <a:ext cx="340722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Lab 1.2 Example of Value Function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193DAC-B310-2F45-9E41-3F15703C6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21" y="1708150"/>
            <a:ext cx="6080744" cy="460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98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Lab Guide Coding  </a:t>
            </a:r>
            <a:endParaRPr dirty="0"/>
          </a:p>
        </p:txBody>
      </p:sp>
      <p:pic>
        <p:nvPicPr>
          <p:cNvPr id="208" name="Google Shape;20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8" name="Google Shape;341;p15">
            <a:extLst>
              <a:ext uri="{FF2B5EF4-FFF2-40B4-BE49-F238E27FC236}">
                <a16:creationId xmlns:a16="http://schemas.microsoft.com/office/drawing/2014/main" id="{ECAA67A7-579F-2B4E-8931-11D2A12895F5}"/>
              </a:ext>
            </a:extLst>
          </p:cNvPr>
          <p:cNvSpPr txBox="1"/>
          <p:nvPr/>
        </p:nvSpPr>
        <p:spPr>
          <a:xfrm>
            <a:off x="3069771" y="6248400"/>
            <a:ext cx="340722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Lab 1.2 Example of Value Function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7DEF9F-DC56-144B-BE8A-CE4F0BDF9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185" y="1739900"/>
            <a:ext cx="8025324" cy="371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180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"/>
          <p:cNvSpPr txBox="1">
            <a:spLocks noGrp="1"/>
          </p:cNvSpPr>
          <p:nvPr>
            <p:ph type="title"/>
          </p:nvPr>
        </p:nvSpPr>
        <p:spPr>
          <a:xfrm>
            <a:off x="1143000" y="3124200"/>
            <a:ext cx="670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 &amp; A</a:t>
            </a:r>
            <a:endParaRPr dirty="0"/>
          </a:p>
        </p:txBody>
      </p:sp>
      <p:pic>
        <p:nvPicPr>
          <p:cNvPr id="340" name="Google Shape;34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6" name="Google Shape;341;p15">
            <a:extLst>
              <a:ext uri="{FF2B5EF4-FFF2-40B4-BE49-F238E27FC236}">
                <a16:creationId xmlns:a16="http://schemas.microsoft.com/office/drawing/2014/main" id="{65B1693E-6790-EC4B-8EC8-349D3B41BD8F}"/>
              </a:ext>
            </a:extLst>
          </p:cNvPr>
          <p:cNvSpPr txBox="1"/>
          <p:nvPr/>
        </p:nvSpPr>
        <p:spPr>
          <a:xfrm>
            <a:off x="3069771" y="6248400"/>
            <a:ext cx="340722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Lab 1.2 Example of Value Function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205</Words>
  <Application>Microsoft Office PowerPoint</Application>
  <PresentationFormat>On-screen Show (4:3)</PresentationFormat>
  <Paragraphs>32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1_Blueprint</vt:lpstr>
      <vt:lpstr>Blueprint</vt:lpstr>
      <vt:lpstr>Lab 1.2 Example of Value Function</vt:lpstr>
      <vt:lpstr>Objectives</vt:lpstr>
      <vt:lpstr>Lab Guide Coding  </vt:lpstr>
      <vt:lpstr>Lab Guide Coding  </vt:lpstr>
      <vt:lpstr>Lab Guide Coding  </vt:lpstr>
      <vt:lpstr>Lab Guide Coding  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</dc:title>
  <dc:creator>Microsoft Office User</dc:creator>
  <cp:lastModifiedBy>Hoa Doan Nguyen Thanh</cp:lastModifiedBy>
  <cp:revision>22</cp:revision>
  <dcterms:created xsi:type="dcterms:W3CDTF">2022-12-09T09:55:15Z</dcterms:created>
  <dcterms:modified xsi:type="dcterms:W3CDTF">2024-04-23T15:20:29Z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